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ague Spartan" charset="1" panose="00000800000000000000"/>
      <p:regular r:id="rId16"/>
    </p:embeddedFont>
    <p:embeddedFont>
      <p:font typeface="Roboto Bold" charset="1" panose="02000000000000000000"/>
      <p:regular r:id="rId17"/>
    </p:embeddedFont>
    <p:embeddedFont>
      <p:font typeface="Poppins" charset="1" panose="00000500000000000000"/>
      <p:regular r:id="rId18"/>
    </p:embeddedFont>
    <p:embeddedFont>
      <p:font typeface="Archivo Black" charset="1" panose="020B0A03020202020B04"/>
      <p:regular r:id="rId19"/>
    </p:embeddedFont>
    <p:embeddedFont>
      <p:font typeface="Roboto" charset="1" panose="02000000000000000000"/>
      <p:regular r:id="rId20"/>
    </p:embeddedFont>
    <p:embeddedFont>
      <p:font typeface="Poppins Bold" charset="1" panose="000008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577619" y="4582320"/>
            <a:ext cx="12577197" cy="1606505"/>
          </a:xfrm>
          <a:prstGeom prst="rect">
            <a:avLst/>
          </a:prstGeom>
        </p:spPr>
        <p:txBody>
          <a:bodyPr anchor="t" rtlCol="false" tIns="0" lIns="0" bIns="0" rIns="0">
            <a:spAutoFit/>
          </a:bodyPr>
          <a:lstStyle/>
          <a:p>
            <a:pPr algn="ctr">
              <a:lnSpc>
                <a:spcPts val="6477"/>
              </a:lnSpc>
            </a:pPr>
            <a:r>
              <a:rPr lang="en-US" b="true" sz="4626">
                <a:solidFill>
                  <a:srgbClr val="004AAD"/>
                </a:solidFill>
                <a:latin typeface="League Spartan"/>
                <a:ea typeface="League Spartan"/>
                <a:cs typeface="League Spartan"/>
                <a:sym typeface="League Spartan"/>
              </a:rPr>
              <a:t>PHASE 3 CLASSIFICATION PROJECT </a:t>
            </a:r>
          </a:p>
          <a:p>
            <a:pPr algn="ctr">
              <a:lnSpc>
                <a:spcPts val="6477"/>
              </a:lnSpc>
            </a:pP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5003158" y="3528848"/>
            <a:ext cx="8113469" cy="913044"/>
          </a:xfrm>
          <a:prstGeom prst="rect">
            <a:avLst/>
          </a:prstGeom>
        </p:spPr>
        <p:txBody>
          <a:bodyPr anchor="t" rtlCol="false" tIns="0" lIns="0" bIns="0" rIns="0">
            <a:spAutoFit/>
          </a:bodyPr>
          <a:lstStyle/>
          <a:p>
            <a:pPr algn="ctr">
              <a:lnSpc>
                <a:spcPts val="7424"/>
              </a:lnSpc>
            </a:pPr>
            <a:r>
              <a:rPr lang="en-US" b="true" sz="5303">
                <a:solidFill>
                  <a:srgbClr val="303642"/>
                </a:solidFill>
                <a:latin typeface="Roboto Bold"/>
                <a:ea typeface="Roboto Bold"/>
                <a:cs typeface="Roboto Bold"/>
                <a:sym typeface="Roboto Bold"/>
              </a:rPr>
              <a:t>BENBELLAH OWINO</a:t>
            </a:r>
          </a:p>
        </p:txBody>
      </p:sp>
      <p:sp>
        <p:nvSpPr>
          <p:cNvPr name="TextBox 8" id="8"/>
          <p:cNvSpPr txBox="true"/>
          <p:nvPr/>
        </p:nvSpPr>
        <p:spPr>
          <a:xfrm rot="0">
            <a:off x="4880587" y="6551147"/>
            <a:ext cx="8526827" cy="400870"/>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LOAN APPROVAL MODEL</a:t>
            </a:r>
          </a:p>
        </p:txBody>
      </p:sp>
      <p:grpSp>
        <p:nvGrpSpPr>
          <p:cNvPr name="Group 9" id="9"/>
          <p:cNvGrpSpPr/>
          <p:nvPr/>
        </p:nvGrpSpPr>
        <p:grpSpPr>
          <a:xfrm rot="0">
            <a:off x="16467343" y="4057750"/>
            <a:ext cx="3086100" cy="2171499"/>
            <a:chOff x="0" y="0"/>
            <a:chExt cx="812800" cy="571917"/>
          </a:xfrm>
        </p:grpSpPr>
        <p:sp>
          <p:nvSpPr>
            <p:cNvPr name="Freeform 10" id="10"/>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1" id="11"/>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792707" cy="10287000"/>
            <a:chOff x="0" y="0"/>
            <a:chExt cx="1789026" cy="2709333"/>
          </a:xfrm>
        </p:grpSpPr>
        <p:sp>
          <p:nvSpPr>
            <p:cNvPr name="Freeform 4" id="4"/>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5" id="5"/>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446818" y="8630505"/>
            <a:ext cx="897167" cy="2183545"/>
            <a:chOff x="0" y="0"/>
            <a:chExt cx="236291" cy="575090"/>
          </a:xfrm>
        </p:grpSpPr>
        <p:sp>
          <p:nvSpPr>
            <p:cNvPr name="Freeform 7" id="7"/>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grpSp>
        <p:nvGrpSpPr>
          <p:cNvPr name="Group 9" id="9"/>
          <p:cNvGrpSpPr>
            <a:grpSpLocks noChangeAspect="true"/>
          </p:cNvGrpSpPr>
          <p:nvPr/>
        </p:nvGrpSpPr>
        <p:grpSpPr>
          <a:xfrm rot="0">
            <a:off x="7509504" y="2224789"/>
            <a:ext cx="4857773" cy="6528106"/>
            <a:chOff x="0" y="0"/>
            <a:chExt cx="3663950" cy="4923790"/>
          </a:xfrm>
        </p:grpSpPr>
        <p:sp>
          <p:nvSpPr>
            <p:cNvPr name="Freeform 10" id="10"/>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39970" t="0" r="-39970" b="0"/>
              </a:stretch>
            </a:blipFill>
          </p:spPr>
        </p:sp>
        <p:sp>
          <p:nvSpPr>
            <p:cNvPr name="Freeform 11" id="11"/>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
        <p:nvSpPr>
          <p:cNvPr name="TextBox 12" id="12"/>
          <p:cNvSpPr txBox="true"/>
          <p:nvPr/>
        </p:nvSpPr>
        <p:spPr>
          <a:xfrm rot="0">
            <a:off x="709411" y="1671659"/>
            <a:ext cx="4243380" cy="1286929"/>
          </a:xfrm>
          <a:prstGeom prst="rect">
            <a:avLst/>
          </a:prstGeom>
        </p:spPr>
        <p:txBody>
          <a:bodyPr anchor="t" rtlCol="false" tIns="0" lIns="0" bIns="0" rIns="0">
            <a:spAutoFit/>
          </a:bodyPr>
          <a:lstStyle/>
          <a:p>
            <a:pPr algn="l">
              <a:lnSpc>
                <a:spcPts val="5191"/>
              </a:lnSpc>
            </a:pPr>
            <a:r>
              <a:rPr lang="en-US" b="true" sz="3708">
                <a:solidFill>
                  <a:srgbClr val="FFFFFF"/>
                </a:solidFill>
                <a:latin typeface="League Spartan"/>
                <a:ea typeface="League Spartan"/>
                <a:cs typeface="League Spartan"/>
                <a:sym typeface="League Spartan"/>
              </a:rPr>
              <a:t>ABOUT THE CLIENT</a:t>
            </a:r>
          </a:p>
        </p:txBody>
      </p:sp>
      <p:sp>
        <p:nvSpPr>
          <p:cNvPr name="TextBox 13" id="13"/>
          <p:cNvSpPr txBox="true"/>
          <p:nvPr/>
        </p:nvSpPr>
        <p:spPr>
          <a:xfrm rot="0">
            <a:off x="709411" y="3385429"/>
            <a:ext cx="5634574" cy="2974950"/>
          </a:xfrm>
          <a:prstGeom prst="rect">
            <a:avLst/>
          </a:prstGeom>
        </p:spPr>
        <p:txBody>
          <a:bodyPr anchor="t" rtlCol="false" tIns="0" lIns="0" bIns="0" rIns="0">
            <a:spAutoFit/>
          </a:bodyPr>
          <a:lstStyle/>
          <a:p>
            <a:pPr algn="l">
              <a:lnSpc>
                <a:spcPts val="2976"/>
              </a:lnSpc>
              <a:spcBef>
                <a:spcPct val="0"/>
              </a:spcBef>
            </a:pPr>
            <a:r>
              <a:rPr lang="en-US" sz="2125">
                <a:solidFill>
                  <a:srgbClr val="FFFFFF"/>
                </a:solidFill>
                <a:latin typeface="Poppins"/>
                <a:ea typeface="Poppins"/>
                <a:cs typeface="Poppins"/>
                <a:sym typeface="Poppins"/>
              </a:rPr>
              <a:t>Mouz Bank is a rapidly expanding retail and commercial bank that prioritizes quick, ethical financing via online platforms. The bank is implementing data-driven algorithms to enhance credit choices, control risk, and guarantee equitable loan approvals in order to support its growing loan portfolio. </a:t>
            </a:r>
          </a:p>
        </p:txBody>
      </p:sp>
      <p:grpSp>
        <p:nvGrpSpPr>
          <p:cNvPr name="Group 14" id="14"/>
          <p:cNvGrpSpPr>
            <a:grpSpLocks noChangeAspect="true"/>
          </p:cNvGrpSpPr>
          <p:nvPr/>
        </p:nvGrpSpPr>
        <p:grpSpPr>
          <a:xfrm rot="0">
            <a:off x="12862577" y="2215264"/>
            <a:ext cx="4857773" cy="6528106"/>
            <a:chOff x="0" y="0"/>
            <a:chExt cx="3663950" cy="4923790"/>
          </a:xfrm>
        </p:grpSpPr>
        <p:sp>
          <p:nvSpPr>
            <p:cNvPr name="Freeform 15" id="15"/>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4"/>
              <a:stretch>
                <a:fillRect l="-51090" t="0" r="-51090" b="0"/>
              </a:stretch>
            </a:blipFill>
          </p:spPr>
        </p:sp>
        <p:sp>
          <p:nvSpPr>
            <p:cNvPr name="Freeform 16" id="16"/>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76311" y="8299208"/>
            <a:ext cx="11106541" cy="286229"/>
            <a:chOff x="0" y="0"/>
            <a:chExt cx="2925180" cy="75386"/>
          </a:xfrm>
        </p:grpSpPr>
        <p:sp>
          <p:nvSpPr>
            <p:cNvPr name="Freeform 4" id="4"/>
            <p:cNvSpPr/>
            <p:nvPr/>
          </p:nvSpPr>
          <p:spPr>
            <a:xfrm flipH="false" flipV="false" rot="0">
              <a:off x="0" y="0"/>
              <a:ext cx="2925180" cy="75386"/>
            </a:xfrm>
            <a:custGeom>
              <a:avLst/>
              <a:gdLst/>
              <a:ahLst/>
              <a:cxnLst/>
              <a:rect r="r" b="b" t="t" l="l"/>
              <a:pathLst>
                <a:path h="75386" w="2925180">
                  <a:moveTo>
                    <a:pt x="0" y="0"/>
                  </a:moveTo>
                  <a:lnTo>
                    <a:pt x="2925180" y="0"/>
                  </a:lnTo>
                  <a:lnTo>
                    <a:pt x="2925180" y="75386"/>
                  </a:lnTo>
                  <a:lnTo>
                    <a:pt x="0" y="75386"/>
                  </a:lnTo>
                  <a:close/>
                </a:path>
              </a:pathLst>
            </a:custGeom>
            <a:solidFill>
              <a:srgbClr val="004AAD"/>
            </a:solidFill>
          </p:spPr>
        </p:sp>
        <p:sp>
          <p:nvSpPr>
            <p:cNvPr name="TextBox 5" id="5"/>
            <p:cNvSpPr txBox="true"/>
            <p:nvPr/>
          </p:nvSpPr>
          <p:spPr>
            <a:xfrm>
              <a:off x="0" y="-47625"/>
              <a:ext cx="2925180" cy="12301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076311" y="1021261"/>
            <a:ext cx="8785204" cy="912915"/>
          </a:xfrm>
          <a:prstGeom prst="rect">
            <a:avLst/>
          </a:prstGeom>
        </p:spPr>
        <p:txBody>
          <a:bodyPr anchor="t" rtlCol="false" tIns="0" lIns="0" bIns="0" rIns="0">
            <a:spAutoFit/>
          </a:bodyPr>
          <a:lstStyle/>
          <a:p>
            <a:pPr algn="l">
              <a:lnSpc>
                <a:spcPts val="7431"/>
              </a:lnSpc>
            </a:pPr>
            <a:r>
              <a:rPr lang="en-US" sz="5308">
                <a:solidFill>
                  <a:srgbClr val="004AAD"/>
                </a:solidFill>
                <a:latin typeface="League Spartan"/>
                <a:ea typeface="League Spartan"/>
                <a:cs typeface="League Spartan"/>
                <a:sym typeface="League Spartan"/>
              </a:rPr>
              <a:t>BUSINESS PROBLEM</a:t>
            </a:r>
          </a:p>
        </p:txBody>
      </p:sp>
      <p:sp>
        <p:nvSpPr>
          <p:cNvPr name="TextBox 7" id="7"/>
          <p:cNvSpPr txBox="true"/>
          <p:nvPr/>
        </p:nvSpPr>
        <p:spPr>
          <a:xfrm rot="0">
            <a:off x="4076311" y="3101834"/>
            <a:ext cx="11106541" cy="2974950"/>
          </a:xfrm>
          <a:prstGeom prst="rect">
            <a:avLst/>
          </a:prstGeom>
        </p:spPr>
        <p:txBody>
          <a:bodyPr anchor="t" rtlCol="false" tIns="0" lIns="0" bIns="0" rIns="0">
            <a:spAutoFit/>
          </a:bodyPr>
          <a:lstStyle/>
          <a:p>
            <a:pPr algn="l">
              <a:lnSpc>
                <a:spcPts val="2976"/>
              </a:lnSpc>
            </a:pPr>
            <a:r>
              <a:rPr lang="en-US" sz="2125">
                <a:solidFill>
                  <a:srgbClr val="000000"/>
                </a:solidFill>
                <a:latin typeface="Poppins"/>
                <a:ea typeface="Poppins"/>
                <a:cs typeface="Poppins"/>
                <a:sym typeface="Poppins"/>
              </a:rPr>
              <a:t>Our client Mouz bank is looking for a clever way to simplify and streamline the loan approval procedure while upholding ethical lending standards. In order to achieve this goal, we will create a prediction model that analyzes applicant data and more effectively evaluates risk in order to automate and assist credit decision-making. The following model will serve as the basis for increasing approval speed, decreasing manual labor, improving decision consistency, and supporting Mouz Bank's objective of providing quicker and more equitable loan outcomes</a:t>
            </a:r>
          </a:p>
          <a:p>
            <a:pPr algn="l">
              <a:lnSpc>
                <a:spcPts val="297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357062"/>
            <a:ext cx="7921963" cy="856293"/>
          </a:xfrm>
          <a:prstGeom prst="rect">
            <a:avLst/>
          </a:prstGeom>
        </p:spPr>
        <p:txBody>
          <a:bodyPr anchor="t" rtlCol="false" tIns="0" lIns="0" bIns="0" rIns="0">
            <a:spAutoFit/>
          </a:bodyPr>
          <a:lstStyle/>
          <a:p>
            <a:pPr algn="l">
              <a:lnSpc>
                <a:spcPts val="6998"/>
              </a:lnSpc>
            </a:pPr>
            <a:r>
              <a:rPr lang="en-US" b="true" sz="4999">
                <a:solidFill>
                  <a:srgbClr val="004AAD"/>
                </a:solidFill>
                <a:latin typeface="League Spartan"/>
                <a:ea typeface="League Spartan"/>
                <a:cs typeface="League Spartan"/>
                <a:sym typeface="League Spartan"/>
              </a:rPr>
              <a:t>PROJECT OBJECTIVES</a:t>
            </a:r>
          </a:p>
        </p:txBody>
      </p:sp>
      <p:sp>
        <p:nvSpPr>
          <p:cNvPr name="TextBox 4" id="4"/>
          <p:cNvSpPr txBox="true"/>
          <p:nvPr/>
        </p:nvSpPr>
        <p:spPr>
          <a:xfrm rot="0">
            <a:off x="1028700" y="2477794"/>
            <a:ext cx="9349457" cy="4089375"/>
          </a:xfrm>
          <a:prstGeom prst="rect">
            <a:avLst/>
          </a:prstGeom>
        </p:spPr>
        <p:txBody>
          <a:bodyPr anchor="t" rtlCol="false" tIns="0" lIns="0" bIns="0" rIns="0">
            <a:spAutoFit/>
          </a:bodyPr>
          <a:lstStyle/>
          <a:p>
            <a:pPr algn="l">
              <a:lnSpc>
                <a:spcPts val="2976"/>
              </a:lnSpc>
            </a:pPr>
            <a:r>
              <a:rPr lang="en-US" sz="2125">
                <a:solidFill>
                  <a:srgbClr val="000000"/>
                </a:solidFill>
                <a:latin typeface="Poppins"/>
                <a:ea typeface="Poppins"/>
                <a:cs typeface="Poppins"/>
                <a:sym typeface="Poppins"/>
              </a:rPr>
              <a:t>We want a model that satisfies the following thresholds</a:t>
            </a:r>
          </a:p>
          <a:p>
            <a:pPr algn="l">
              <a:lnSpc>
                <a:spcPts val="2976"/>
              </a:lnSpc>
            </a:pPr>
            <a:r>
              <a:rPr lang="en-US" sz="2125">
                <a:solidFill>
                  <a:srgbClr val="000000"/>
                </a:solidFill>
                <a:latin typeface="Poppins"/>
                <a:ea typeface="Poppins"/>
                <a:cs typeface="Poppins"/>
                <a:sym typeface="Poppins"/>
              </a:rPr>
              <a:t>1. Minimum f1 score of 90%</a:t>
            </a:r>
          </a:p>
          <a:p>
            <a:pPr algn="l">
              <a:lnSpc>
                <a:spcPts val="2976"/>
              </a:lnSpc>
            </a:pPr>
            <a:r>
              <a:rPr lang="en-US" sz="2125">
                <a:solidFill>
                  <a:srgbClr val="000000"/>
                </a:solidFill>
                <a:latin typeface="Poppins"/>
                <a:ea typeface="Poppins"/>
                <a:cs typeface="Poppins"/>
                <a:sym typeface="Poppins"/>
              </a:rPr>
              <a:t>2. Recall f1 score of 90%</a:t>
            </a:r>
          </a:p>
          <a:p>
            <a:pPr algn="l">
              <a:lnSpc>
                <a:spcPts val="2976"/>
              </a:lnSpc>
            </a:pPr>
            <a:r>
              <a:rPr lang="en-US" sz="2125">
                <a:solidFill>
                  <a:srgbClr val="000000"/>
                </a:solidFill>
                <a:latin typeface="Poppins"/>
                <a:ea typeface="Poppins"/>
                <a:cs typeface="Poppins"/>
                <a:sym typeface="Poppins"/>
              </a:rPr>
              <a:t>3. Minimum precision score of 90%</a:t>
            </a:r>
          </a:p>
          <a:p>
            <a:pPr algn="l">
              <a:lnSpc>
                <a:spcPts val="2976"/>
              </a:lnSpc>
            </a:pPr>
          </a:p>
          <a:p>
            <a:pPr algn="l">
              <a:lnSpc>
                <a:spcPts val="2976"/>
              </a:lnSpc>
            </a:pPr>
            <a:r>
              <a:rPr lang="en-US" sz="2125">
                <a:solidFill>
                  <a:srgbClr val="000000"/>
                </a:solidFill>
                <a:latin typeface="Poppins"/>
                <a:ea typeface="Poppins"/>
                <a:cs typeface="Poppins"/>
                <a:sym typeface="Poppins"/>
              </a:rPr>
              <a:t>We have very high thresholds because the model will operate in a high risk high reward environment so we want to minimize the former while maximize the latter. Anything less than that is as good as useless. Also the model must be good in order not to affect customer satisfication negatively.</a:t>
            </a:r>
          </a:p>
          <a:p>
            <a:pPr algn="l">
              <a:lnSpc>
                <a:spcPts val="297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908043"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70541" y="2006345"/>
            <a:ext cx="1601933" cy="6466659"/>
            <a:chOff x="0" y="0"/>
            <a:chExt cx="421908" cy="1703153"/>
          </a:xfrm>
        </p:grpSpPr>
        <p:sp>
          <p:nvSpPr>
            <p:cNvPr name="Freeform 7" id="7"/>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8" id="8"/>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graphicFrame>
        <p:nvGraphicFramePr>
          <p:cNvPr name="Table 9" id="9"/>
          <p:cNvGraphicFramePr>
            <a:graphicFrameLocks noGrp="true"/>
          </p:cNvGraphicFramePr>
          <p:nvPr/>
        </p:nvGraphicFramePr>
        <p:xfrm>
          <a:off x="2910250" y="2732157"/>
          <a:ext cx="7315200" cy="5133975"/>
        </p:xfrm>
        <a:graphic>
          <a:graphicData uri="http://schemas.openxmlformats.org/drawingml/2006/table">
            <a:tbl>
              <a:tblPr/>
              <a:tblGrid>
                <a:gridCol w="2438400"/>
                <a:gridCol w="2438400"/>
                <a:gridCol w="2438400"/>
              </a:tblGrid>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SCORE FALSE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METRIC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SCORE TRUE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0.87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F1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0.87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0.86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TEST - 0.902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TRAIN - 0.923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2508848" y="3436440"/>
            <a:ext cx="4908029" cy="647739"/>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Our  base model is a logistic regression model from sklearn</a:t>
            </a:r>
          </a:p>
        </p:txBody>
      </p:sp>
      <p:sp>
        <p:nvSpPr>
          <p:cNvPr name="TextBox 11" id="11"/>
          <p:cNvSpPr txBox="true"/>
          <p:nvPr/>
        </p:nvSpPr>
        <p:spPr>
          <a:xfrm rot="0">
            <a:off x="12508848" y="5095875"/>
            <a:ext cx="4908029" cy="971315"/>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We chose this model since it is simple and computationally efficient, so it’s very good for a base model.</a:t>
            </a:r>
          </a:p>
        </p:txBody>
      </p:sp>
      <p:sp>
        <p:nvSpPr>
          <p:cNvPr name="TextBox 12" id="12"/>
          <p:cNvSpPr txBox="true"/>
          <p:nvPr/>
        </p:nvSpPr>
        <p:spPr>
          <a:xfrm rot="0">
            <a:off x="11908043" y="914400"/>
            <a:ext cx="5508835" cy="770217"/>
          </a:xfrm>
          <a:prstGeom prst="rect">
            <a:avLst/>
          </a:prstGeom>
        </p:spPr>
        <p:txBody>
          <a:bodyPr anchor="t" rtlCol="false" tIns="0" lIns="0" bIns="0" rIns="0">
            <a:spAutoFit/>
          </a:bodyPr>
          <a:lstStyle/>
          <a:p>
            <a:pPr algn="r">
              <a:lnSpc>
                <a:spcPts val="6372"/>
              </a:lnSpc>
            </a:pPr>
            <a:r>
              <a:rPr lang="en-US" sz="4551">
                <a:solidFill>
                  <a:srgbClr val="FFFFFF"/>
                </a:solidFill>
                <a:latin typeface="Roboto"/>
                <a:ea typeface="Roboto"/>
                <a:cs typeface="Roboto"/>
                <a:sym typeface="Roboto"/>
              </a:rPr>
              <a:t>BASE MODEL</a:t>
            </a:r>
          </a:p>
        </p:txBody>
      </p:sp>
      <p:sp>
        <p:nvSpPr>
          <p:cNvPr name="TextBox 13" id="13"/>
          <p:cNvSpPr txBox="true"/>
          <p:nvPr/>
        </p:nvSpPr>
        <p:spPr>
          <a:xfrm rot="0">
            <a:off x="13173498" y="1744684"/>
            <a:ext cx="4243380" cy="1623480"/>
          </a:xfrm>
          <a:prstGeom prst="rect">
            <a:avLst/>
          </a:prstGeom>
        </p:spPr>
        <p:txBody>
          <a:bodyPr anchor="t" rtlCol="false" tIns="0" lIns="0" bIns="0" rIns="0">
            <a:spAutoFit/>
          </a:bodyPr>
          <a:lstStyle/>
          <a:p>
            <a:pPr algn="r">
              <a:lnSpc>
                <a:spcPts val="6591"/>
              </a:lnSpc>
            </a:pPr>
            <a:r>
              <a:rPr lang="en-US" b="true" sz="4708">
                <a:solidFill>
                  <a:srgbClr val="FFFFFF"/>
                </a:solidFill>
                <a:latin typeface="League Spartan"/>
                <a:ea typeface="League Spartan"/>
                <a:cs typeface="League Spartan"/>
                <a:sym typeface="League Spartan"/>
              </a:rPr>
              <a:t>LOGISTIC REGRESSION</a:t>
            </a:r>
          </a:p>
        </p:txBody>
      </p:sp>
      <p:sp>
        <p:nvSpPr>
          <p:cNvPr name="TextBox 14" id="14"/>
          <p:cNvSpPr txBox="true"/>
          <p:nvPr/>
        </p:nvSpPr>
        <p:spPr>
          <a:xfrm rot="0">
            <a:off x="3593666" y="1627302"/>
            <a:ext cx="5948366" cy="651521"/>
          </a:xfrm>
          <a:prstGeom prst="rect">
            <a:avLst/>
          </a:prstGeom>
        </p:spPr>
        <p:txBody>
          <a:bodyPr anchor="t" rtlCol="false" tIns="0" lIns="0" bIns="0" rIns="0">
            <a:spAutoFit/>
          </a:bodyPr>
          <a:lstStyle/>
          <a:p>
            <a:pPr algn="r">
              <a:lnSpc>
                <a:spcPts val="5039"/>
              </a:lnSpc>
              <a:spcBef>
                <a:spcPct val="0"/>
              </a:spcBef>
            </a:pPr>
            <a:r>
              <a:rPr lang="en-US" b="true" sz="3599">
                <a:solidFill>
                  <a:srgbClr val="000000"/>
                </a:solidFill>
                <a:latin typeface="Poppins Bold"/>
                <a:ea typeface="Poppins Bold"/>
                <a:cs typeface="Poppins Bold"/>
                <a:sym typeface="Poppins Bold"/>
              </a:rPr>
              <a:t>MODEL RESULTS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908043"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70541" y="2006345"/>
            <a:ext cx="1601933" cy="6466659"/>
            <a:chOff x="0" y="0"/>
            <a:chExt cx="421908" cy="1703153"/>
          </a:xfrm>
        </p:grpSpPr>
        <p:sp>
          <p:nvSpPr>
            <p:cNvPr name="Freeform 7" id="7"/>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8" id="8"/>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graphicFrame>
        <p:nvGraphicFramePr>
          <p:cNvPr name="Table 9" id="9"/>
          <p:cNvGraphicFramePr>
            <a:graphicFrameLocks noGrp="true"/>
          </p:cNvGraphicFramePr>
          <p:nvPr/>
        </p:nvGraphicFramePr>
        <p:xfrm>
          <a:off x="2910250" y="2732157"/>
          <a:ext cx="7315200" cy="5133975"/>
        </p:xfrm>
        <a:graphic>
          <a:graphicData uri="http://schemas.openxmlformats.org/drawingml/2006/table">
            <a:tbl>
              <a:tblPr/>
              <a:tblGrid>
                <a:gridCol w="2438400"/>
                <a:gridCol w="2438400"/>
                <a:gridCol w="2438400"/>
              </a:tblGrid>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SCORE FALSE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METRIC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SCORE TRUE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F1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TEST - 0.98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TRAIN - 1.00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2508848" y="3436440"/>
            <a:ext cx="4908029" cy="647739"/>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This model is a Decision Tree classifier from sklearn</a:t>
            </a:r>
          </a:p>
        </p:txBody>
      </p:sp>
      <p:sp>
        <p:nvSpPr>
          <p:cNvPr name="TextBox 11" id="11"/>
          <p:cNvSpPr txBox="true"/>
          <p:nvPr/>
        </p:nvSpPr>
        <p:spPr>
          <a:xfrm rot="0">
            <a:off x="12508848" y="4979529"/>
            <a:ext cx="4908029" cy="647739"/>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We chose this model since it maps well to the laon approval process for banks</a:t>
            </a:r>
          </a:p>
        </p:txBody>
      </p:sp>
      <p:sp>
        <p:nvSpPr>
          <p:cNvPr name="TextBox 12" id="12"/>
          <p:cNvSpPr txBox="true"/>
          <p:nvPr/>
        </p:nvSpPr>
        <p:spPr>
          <a:xfrm rot="0">
            <a:off x="11908043" y="914400"/>
            <a:ext cx="5508835" cy="770217"/>
          </a:xfrm>
          <a:prstGeom prst="rect">
            <a:avLst/>
          </a:prstGeom>
        </p:spPr>
        <p:txBody>
          <a:bodyPr anchor="t" rtlCol="false" tIns="0" lIns="0" bIns="0" rIns="0">
            <a:spAutoFit/>
          </a:bodyPr>
          <a:lstStyle/>
          <a:p>
            <a:pPr algn="r">
              <a:lnSpc>
                <a:spcPts val="6372"/>
              </a:lnSpc>
            </a:pPr>
            <a:r>
              <a:rPr lang="en-US" sz="4551">
                <a:solidFill>
                  <a:srgbClr val="FFFFFF"/>
                </a:solidFill>
                <a:latin typeface="Roboto"/>
                <a:ea typeface="Roboto"/>
                <a:cs typeface="Roboto"/>
                <a:sym typeface="Roboto"/>
              </a:rPr>
              <a:t>MODEL 2</a:t>
            </a:r>
          </a:p>
        </p:txBody>
      </p:sp>
      <p:sp>
        <p:nvSpPr>
          <p:cNvPr name="TextBox 13" id="13"/>
          <p:cNvSpPr txBox="true"/>
          <p:nvPr/>
        </p:nvSpPr>
        <p:spPr>
          <a:xfrm rot="0">
            <a:off x="12319480" y="1744684"/>
            <a:ext cx="5097398" cy="794805"/>
          </a:xfrm>
          <a:prstGeom prst="rect">
            <a:avLst/>
          </a:prstGeom>
        </p:spPr>
        <p:txBody>
          <a:bodyPr anchor="t" rtlCol="false" tIns="0" lIns="0" bIns="0" rIns="0">
            <a:spAutoFit/>
          </a:bodyPr>
          <a:lstStyle/>
          <a:p>
            <a:pPr algn="r">
              <a:lnSpc>
                <a:spcPts val="6591"/>
              </a:lnSpc>
            </a:pPr>
            <a:r>
              <a:rPr lang="en-US" b="true" sz="4708">
                <a:solidFill>
                  <a:srgbClr val="FFFFFF"/>
                </a:solidFill>
                <a:latin typeface="League Spartan"/>
                <a:ea typeface="League Spartan"/>
                <a:cs typeface="League Spartan"/>
                <a:sym typeface="League Spartan"/>
              </a:rPr>
              <a:t>DECISION TREE</a:t>
            </a:r>
          </a:p>
        </p:txBody>
      </p:sp>
      <p:sp>
        <p:nvSpPr>
          <p:cNvPr name="TextBox 14" id="14"/>
          <p:cNvSpPr txBox="true"/>
          <p:nvPr/>
        </p:nvSpPr>
        <p:spPr>
          <a:xfrm rot="0">
            <a:off x="3593666" y="1627302"/>
            <a:ext cx="5948366" cy="651521"/>
          </a:xfrm>
          <a:prstGeom prst="rect">
            <a:avLst/>
          </a:prstGeom>
        </p:spPr>
        <p:txBody>
          <a:bodyPr anchor="t" rtlCol="false" tIns="0" lIns="0" bIns="0" rIns="0">
            <a:spAutoFit/>
          </a:bodyPr>
          <a:lstStyle/>
          <a:p>
            <a:pPr algn="r">
              <a:lnSpc>
                <a:spcPts val="5039"/>
              </a:lnSpc>
              <a:spcBef>
                <a:spcPct val="0"/>
              </a:spcBef>
            </a:pPr>
            <a:r>
              <a:rPr lang="en-US" b="true" sz="3599">
                <a:solidFill>
                  <a:srgbClr val="000000"/>
                </a:solidFill>
                <a:latin typeface="Poppins Bold"/>
                <a:ea typeface="Poppins Bold"/>
                <a:cs typeface="Poppins Bold"/>
                <a:sym typeface="Poppins Bold"/>
              </a:rPr>
              <a:t>MODEL RESULTS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908043"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70541" y="2006345"/>
            <a:ext cx="1601933" cy="6466659"/>
            <a:chOff x="0" y="0"/>
            <a:chExt cx="421908" cy="1703153"/>
          </a:xfrm>
        </p:grpSpPr>
        <p:sp>
          <p:nvSpPr>
            <p:cNvPr name="Freeform 7" id="7"/>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8" id="8"/>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graphicFrame>
        <p:nvGraphicFramePr>
          <p:cNvPr name="Table 9" id="9"/>
          <p:cNvGraphicFramePr>
            <a:graphicFrameLocks noGrp="true"/>
          </p:cNvGraphicFramePr>
          <p:nvPr/>
        </p:nvGraphicFramePr>
        <p:xfrm>
          <a:off x="2817836" y="3076553"/>
          <a:ext cx="7315200" cy="5133975"/>
        </p:xfrm>
        <a:graphic>
          <a:graphicData uri="http://schemas.openxmlformats.org/drawingml/2006/table">
            <a:tbl>
              <a:tblPr/>
              <a:tblGrid>
                <a:gridCol w="2438400"/>
                <a:gridCol w="2438400"/>
                <a:gridCol w="2438400"/>
              </a:tblGrid>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SCORE FALSE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METRIC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SCORE TRUE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F1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TEST - 0.98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Archivo Black"/>
                          <a:ea typeface="Archivo Black"/>
                          <a:cs typeface="Archivo Black"/>
                          <a:sym typeface="Archivo Black"/>
                        </a:rPr>
                        <a:t>TRAIN - 1.00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2508848" y="3436440"/>
            <a:ext cx="4908029" cy="647739"/>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This model is a Decision Tree classifier from sklearn</a:t>
            </a:r>
          </a:p>
        </p:txBody>
      </p:sp>
      <p:sp>
        <p:nvSpPr>
          <p:cNvPr name="TextBox 11" id="11"/>
          <p:cNvSpPr txBox="true"/>
          <p:nvPr/>
        </p:nvSpPr>
        <p:spPr>
          <a:xfrm rot="0">
            <a:off x="11917568" y="914400"/>
            <a:ext cx="5508835" cy="770217"/>
          </a:xfrm>
          <a:prstGeom prst="rect">
            <a:avLst/>
          </a:prstGeom>
        </p:spPr>
        <p:txBody>
          <a:bodyPr anchor="t" rtlCol="false" tIns="0" lIns="0" bIns="0" rIns="0">
            <a:spAutoFit/>
          </a:bodyPr>
          <a:lstStyle/>
          <a:p>
            <a:pPr algn="r">
              <a:lnSpc>
                <a:spcPts val="6372"/>
              </a:lnSpc>
            </a:pPr>
            <a:r>
              <a:rPr lang="en-US" sz="4551">
                <a:solidFill>
                  <a:srgbClr val="FFFFFF"/>
                </a:solidFill>
                <a:latin typeface="Roboto"/>
                <a:ea typeface="Roboto"/>
                <a:cs typeface="Roboto"/>
                <a:sym typeface="Roboto"/>
              </a:rPr>
              <a:t>MODEL 3</a:t>
            </a:r>
          </a:p>
        </p:txBody>
      </p:sp>
      <p:sp>
        <p:nvSpPr>
          <p:cNvPr name="TextBox 12" id="12"/>
          <p:cNvSpPr txBox="true"/>
          <p:nvPr/>
        </p:nvSpPr>
        <p:spPr>
          <a:xfrm rot="0">
            <a:off x="12319480" y="1744684"/>
            <a:ext cx="5097398" cy="794805"/>
          </a:xfrm>
          <a:prstGeom prst="rect">
            <a:avLst/>
          </a:prstGeom>
        </p:spPr>
        <p:txBody>
          <a:bodyPr anchor="t" rtlCol="false" tIns="0" lIns="0" bIns="0" rIns="0">
            <a:spAutoFit/>
          </a:bodyPr>
          <a:lstStyle/>
          <a:p>
            <a:pPr algn="r">
              <a:lnSpc>
                <a:spcPts val="6591"/>
              </a:lnSpc>
            </a:pPr>
            <a:r>
              <a:rPr lang="en-US" b="true" sz="4708">
                <a:solidFill>
                  <a:srgbClr val="FFFFFF"/>
                </a:solidFill>
                <a:latin typeface="League Spartan"/>
                <a:ea typeface="League Spartan"/>
                <a:cs typeface="League Spartan"/>
                <a:sym typeface="League Spartan"/>
              </a:rPr>
              <a:t>DECISION TREE</a:t>
            </a:r>
          </a:p>
        </p:txBody>
      </p:sp>
      <p:sp>
        <p:nvSpPr>
          <p:cNvPr name="TextBox 13" id="13"/>
          <p:cNvSpPr txBox="true"/>
          <p:nvPr/>
        </p:nvSpPr>
        <p:spPr>
          <a:xfrm rot="0">
            <a:off x="3501252" y="1971697"/>
            <a:ext cx="5948366" cy="651521"/>
          </a:xfrm>
          <a:prstGeom prst="rect">
            <a:avLst/>
          </a:prstGeom>
        </p:spPr>
        <p:txBody>
          <a:bodyPr anchor="t" rtlCol="false" tIns="0" lIns="0" bIns="0" rIns="0">
            <a:spAutoFit/>
          </a:bodyPr>
          <a:lstStyle/>
          <a:p>
            <a:pPr algn="r">
              <a:lnSpc>
                <a:spcPts val="5039"/>
              </a:lnSpc>
              <a:spcBef>
                <a:spcPct val="0"/>
              </a:spcBef>
            </a:pPr>
            <a:r>
              <a:rPr lang="en-US" b="true" sz="3599">
                <a:solidFill>
                  <a:srgbClr val="000000"/>
                </a:solidFill>
                <a:latin typeface="Poppins Bold"/>
                <a:ea typeface="Poppins Bold"/>
                <a:cs typeface="Poppins Bold"/>
                <a:sym typeface="Poppins Bold"/>
              </a:rPr>
              <a:t>MODEL RESULTS</a:t>
            </a:r>
          </a:p>
        </p:txBody>
      </p:sp>
      <p:sp>
        <p:nvSpPr>
          <p:cNvPr name="TextBox 14" id="14"/>
          <p:cNvSpPr txBox="true"/>
          <p:nvPr/>
        </p:nvSpPr>
        <p:spPr>
          <a:xfrm rot="0">
            <a:off x="12644007" y="4860196"/>
            <a:ext cx="4908029" cy="1618466"/>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In this stage we did cross-validation, whereby we run the model numerous times with different parameters to find the best performing model thus effectively tuning it.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67800" y="2400624"/>
            <a:ext cx="4668038" cy="3977500"/>
          </a:xfrm>
          <a:custGeom>
            <a:avLst/>
            <a:gdLst/>
            <a:ahLst/>
            <a:cxnLst/>
            <a:rect r="r" b="b" t="t" l="l"/>
            <a:pathLst>
              <a:path h="3977500" w="4668038">
                <a:moveTo>
                  <a:pt x="0" y="0"/>
                </a:moveTo>
                <a:lnTo>
                  <a:pt x="4668038" y="0"/>
                </a:lnTo>
                <a:lnTo>
                  <a:pt x="4668038" y="3977500"/>
                </a:lnTo>
                <a:lnTo>
                  <a:pt x="0" y="3977500"/>
                </a:lnTo>
                <a:lnTo>
                  <a:pt x="0" y="0"/>
                </a:lnTo>
                <a:close/>
              </a:path>
            </a:pathLst>
          </a:custGeom>
          <a:blipFill>
            <a:blip r:embed="rId3"/>
            <a:stretch>
              <a:fillRect l="0" t="0" r="0" b="0"/>
            </a:stretch>
          </a:blipFill>
        </p:spPr>
      </p:sp>
      <p:sp>
        <p:nvSpPr>
          <p:cNvPr name="Freeform 4" id="4"/>
          <p:cNvSpPr/>
          <p:nvPr/>
        </p:nvSpPr>
        <p:spPr>
          <a:xfrm flipH="false" flipV="false" rot="0">
            <a:off x="6807760" y="2371084"/>
            <a:ext cx="4612407" cy="4007040"/>
          </a:xfrm>
          <a:custGeom>
            <a:avLst/>
            <a:gdLst/>
            <a:ahLst/>
            <a:cxnLst/>
            <a:rect r="r" b="b" t="t" l="l"/>
            <a:pathLst>
              <a:path h="4007040" w="4612407">
                <a:moveTo>
                  <a:pt x="0" y="0"/>
                </a:moveTo>
                <a:lnTo>
                  <a:pt x="4612407" y="0"/>
                </a:lnTo>
                <a:lnTo>
                  <a:pt x="4612407" y="4007040"/>
                </a:lnTo>
                <a:lnTo>
                  <a:pt x="0" y="4007040"/>
                </a:lnTo>
                <a:lnTo>
                  <a:pt x="0" y="0"/>
                </a:lnTo>
                <a:close/>
              </a:path>
            </a:pathLst>
          </a:custGeom>
          <a:blipFill>
            <a:blip r:embed="rId4"/>
            <a:stretch>
              <a:fillRect l="0" t="0" r="-561" b="0"/>
            </a:stretch>
          </a:blipFill>
        </p:spPr>
      </p:sp>
      <p:sp>
        <p:nvSpPr>
          <p:cNvPr name="Freeform 5" id="5"/>
          <p:cNvSpPr/>
          <p:nvPr/>
        </p:nvSpPr>
        <p:spPr>
          <a:xfrm flipH="false" flipV="false" rot="0">
            <a:off x="13240686" y="2371084"/>
            <a:ext cx="4464878" cy="3857232"/>
          </a:xfrm>
          <a:custGeom>
            <a:avLst/>
            <a:gdLst/>
            <a:ahLst/>
            <a:cxnLst/>
            <a:rect r="r" b="b" t="t" l="l"/>
            <a:pathLst>
              <a:path h="3857232" w="4464878">
                <a:moveTo>
                  <a:pt x="0" y="0"/>
                </a:moveTo>
                <a:lnTo>
                  <a:pt x="4464878" y="0"/>
                </a:lnTo>
                <a:lnTo>
                  <a:pt x="4464878" y="3857232"/>
                </a:lnTo>
                <a:lnTo>
                  <a:pt x="0" y="3857232"/>
                </a:lnTo>
                <a:lnTo>
                  <a:pt x="0" y="0"/>
                </a:lnTo>
                <a:close/>
              </a:path>
            </a:pathLst>
          </a:custGeom>
          <a:blipFill>
            <a:blip r:embed="rId5"/>
            <a:stretch>
              <a:fillRect l="0" t="0" r="0" b="0"/>
            </a:stretch>
          </a:blipFill>
        </p:spPr>
      </p:sp>
      <p:sp>
        <p:nvSpPr>
          <p:cNvPr name="TextBox 6" id="6"/>
          <p:cNvSpPr txBox="true"/>
          <p:nvPr/>
        </p:nvSpPr>
        <p:spPr>
          <a:xfrm rot="0">
            <a:off x="4549493" y="225735"/>
            <a:ext cx="9010636" cy="967259"/>
          </a:xfrm>
          <a:prstGeom prst="rect">
            <a:avLst/>
          </a:prstGeom>
        </p:spPr>
        <p:txBody>
          <a:bodyPr anchor="t" rtlCol="false" tIns="0" lIns="0" bIns="0" rIns="0">
            <a:spAutoFit/>
          </a:bodyPr>
          <a:lstStyle/>
          <a:p>
            <a:pPr algn="ctr">
              <a:lnSpc>
                <a:spcPts val="7940"/>
              </a:lnSpc>
            </a:pPr>
            <a:r>
              <a:rPr lang="en-US" sz="5672">
                <a:solidFill>
                  <a:srgbClr val="004AAD"/>
                </a:solidFill>
                <a:latin typeface="League Spartan"/>
                <a:ea typeface="League Spartan"/>
                <a:cs typeface="League Spartan"/>
                <a:sym typeface="League Spartan"/>
              </a:rPr>
              <a:t>CONFUSION MATRICES</a:t>
            </a:r>
          </a:p>
        </p:txBody>
      </p:sp>
      <p:sp>
        <p:nvSpPr>
          <p:cNvPr name="TextBox 7" id="7"/>
          <p:cNvSpPr txBox="true"/>
          <p:nvPr/>
        </p:nvSpPr>
        <p:spPr>
          <a:xfrm rot="0">
            <a:off x="309006" y="1252301"/>
            <a:ext cx="5871786" cy="407309"/>
          </a:xfrm>
          <a:prstGeom prst="rect">
            <a:avLst/>
          </a:prstGeom>
        </p:spPr>
        <p:txBody>
          <a:bodyPr anchor="t" rtlCol="false" tIns="0" lIns="0" bIns="0" rIns="0">
            <a:spAutoFit/>
          </a:bodyPr>
          <a:lstStyle/>
          <a:p>
            <a:pPr algn="ctr">
              <a:lnSpc>
                <a:spcPts val="3274"/>
              </a:lnSpc>
            </a:pPr>
            <a:r>
              <a:rPr lang="en-US" sz="2339">
                <a:solidFill>
                  <a:srgbClr val="303642"/>
                </a:solidFill>
                <a:latin typeface="Roboto"/>
                <a:ea typeface="Roboto"/>
                <a:cs typeface="Roboto"/>
                <a:sym typeface="Roboto"/>
              </a:rPr>
              <a:t>BASE MODEL</a:t>
            </a:r>
          </a:p>
        </p:txBody>
      </p:sp>
      <p:sp>
        <p:nvSpPr>
          <p:cNvPr name="TextBox 8" id="8"/>
          <p:cNvSpPr txBox="true"/>
          <p:nvPr/>
        </p:nvSpPr>
        <p:spPr>
          <a:xfrm rot="0">
            <a:off x="6118918" y="1252301"/>
            <a:ext cx="5871786" cy="407309"/>
          </a:xfrm>
          <a:prstGeom prst="rect">
            <a:avLst/>
          </a:prstGeom>
        </p:spPr>
        <p:txBody>
          <a:bodyPr anchor="t" rtlCol="false" tIns="0" lIns="0" bIns="0" rIns="0">
            <a:spAutoFit/>
          </a:bodyPr>
          <a:lstStyle/>
          <a:p>
            <a:pPr algn="ctr">
              <a:lnSpc>
                <a:spcPts val="3274"/>
              </a:lnSpc>
            </a:pPr>
            <a:r>
              <a:rPr lang="en-US" sz="2339">
                <a:solidFill>
                  <a:srgbClr val="303642"/>
                </a:solidFill>
                <a:latin typeface="Roboto"/>
                <a:ea typeface="Roboto"/>
                <a:cs typeface="Roboto"/>
                <a:sym typeface="Roboto"/>
              </a:rPr>
              <a:t>MODEL 2</a:t>
            </a:r>
          </a:p>
        </p:txBody>
      </p:sp>
      <p:sp>
        <p:nvSpPr>
          <p:cNvPr name="TextBox 9" id="9"/>
          <p:cNvSpPr txBox="true"/>
          <p:nvPr/>
        </p:nvSpPr>
        <p:spPr>
          <a:xfrm rot="0">
            <a:off x="13116404" y="1252301"/>
            <a:ext cx="5871786" cy="407309"/>
          </a:xfrm>
          <a:prstGeom prst="rect">
            <a:avLst/>
          </a:prstGeom>
        </p:spPr>
        <p:txBody>
          <a:bodyPr anchor="t" rtlCol="false" tIns="0" lIns="0" bIns="0" rIns="0">
            <a:spAutoFit/>
          </a:bodyPr>
          <a:lstStyle/>
          <a:p>
            <a:pPr algn="ctr">
              <a:lnSpc>
                <a:spcPts val="3274"/>
              </a:lnSpc>
            </a:pPr>
            <a:r>
              <a:rPr lang="en-US" sz="2339">
                <a:solidFill>
                  <a:srgbClr val="303642"/>
                </a:solidFill>
                <a:latin typeface="Roboto"/>
                <a:ea typeface="Roboto"/>
                <a:cs typeface="Roboto"/>
                <a:sym typeface="Roboto"/>
              </a:rPr>
              <a:t>MODEL 3</a:t>
            </a:r>
          </a:p>
        </p:txBody>
      </p:sp>
      <p:sp>
        <p:nvSpPr>
          <p:cNvPr name="TextBox 10" id="10"/>
          <p:cNvSpPr txBox="true"/>
          <p:nvPr/>
        </p:nvSpPr>
        <p:spPr>
          <a:xfrm rot="0">
            <a:off x="826864" y="6804208"/>
            <a:ext cx="4149909" cy="1342390"/>
          </a:xfrm>
          <a:prstGeom prst="rect">
            <a:avLst/>
          </a:prstGeom>
        </p:spPr>
        <p:txBody>
          <a:bodyPr anchor="t" rtlCol="false" tIns="0" lIns="0" bIns="0" rIns="0">
            <a:spAutoFit/>
          </a:bodyPr>
          <a:lstStyle/>
          <a:p>
            <a:pPr algn="ctr">
              <a:lnSpc>
                <a:spcPts val="2659"/>
              </a:lnSpc>
            </a:pPr>
            <a:r>
              <a:rPr lang="en-US" sz="1899">
                <a:solidFill>
                  <a:srgbClr val="000000"/>
                </a:solidFill>
                <a:latin typeface="Poppins"/>
                <a:ea typeface="Poppins"/>
                <a:cs typeface="Poppins"/>
                <a:sym typeface="Poppins"/>
              </a:rPr>
              <a:t>Approved correctly - 746</a:t>
            </a:r>
          </a:p>
          <a:p>
            <a:pPr algn="ctr">
              <a:lnSpc>
                <a:spcPts val="2659"/>
              </a:lnSpc>
            </a:pPr>
            <a:r>
              <a:rPr lang="en-US" sz="1899">
                <a:solidFill>
                  <a:srgbClr val="000000"/>
                </a:solidFill>
                <a:latin typeface="Poppins"/>
                <a:ea typeface="Poppins"/>
                <a:cs typeface="Poppins"/>
                <a:sym typeface="Poppins"/>
              </a:rPr>
              <a:t>Approved falsely - 61</a:t>
            </a:r>
          </a:p>
          <a:p>
            <a:pPr algn="ctr">
              <a:lnSpc>
                <a:spcPts val="2659"/>
              </a:lnSpc>
            </a:pPr>
            <a:r>
              <a:rPr lang="en-US" sz="1899">
                <a:solidFill>
                  <a:srgbClr val="000000"/>
                </a:solidFill>
                <a:latin typeface="Poppins"/>
                <a:ea typeface="Poppins"/>
                <a:cs typeface="Poppins"/>
                <a:sym typeface="Poppins"/>
              </a:rPr>
              <a:t>Rejected correctly - 410</a:t>
            </a:r>
          </a:p>
          <a:p>
            <a:pPr algn="ctr">
              <a:lnSpc>
                <a:spcPts val="2659"/>
              </a:lnSpc>
              <a:spcBef>
                <a:spcPct val="0"/>
              </a:spcBef>
            </a:pPr>
            <a:r>
              <a:rPr lang="en-US" sz="1899">
                <a:solidFill>
                  <a:srgbClr val="000000"/>
                </a:solidFill>
                <a:latin typeface="Poppins"/>
                <a:ea typeface="Poppins"/>
                <a:cs typeface="Poppins"/>
                <a:sym typeface="Poppins"/>
              </a:rPr>
              <a:t>Rejected wrongly - 64</a:t>
            </a:r>
          </a:p>
        </p:txBody>
      </p:sp>
      <p:sp>
        <p:nvSpPr>
          <p:cNvPr name="TextBox 11" id="11"/>
          <p:cNvSpPr txBox="true"/>
          <p:nvPr/>
        </p:nvSpPr>
        <p:spPr>
          <a:xfrm rot="0">
            <a:off x="309006" y="1897100"/>
            <a:ext cx="5871786"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rchivo Black"/>
                <a:ea typeface="Archivo Black"/>
                <a:cs typeface="Archivo Black"/>
                <a:sym typeface="Archivo Black"/>
              </a:rPr>
              <a:t>Your paragraph text</a:t>
            </a:r>
          </a:p>
        </p:txBody>
      </p:sp>
      <p:sp>
        <p:nvSpPr>
          <p:cNvPr name="TextBox 12" id="12"/>
          <p:cNvSpPr txBox="true"/>
          <p:nvPr/>
        </p:nvSpPr>
        <p:spPr>
          <a:xfrm rot="0">
            <a:off x="7069045" y="6804208"/>
            <a:ext cx="4149909" cy="1342390"/>
          </a:xfrm>
          <a:prstGeom prst="rect">
            <a:avLst/>
          </a:prstGeom>
        </p:spPr>
        <p:txBody>
          <a:bodyPr anchor="t" rtlCol="false" tIns="0" lIns="0" bIns="0" rIns="0">
            <a:spAutoFit/>
          </a:bodyPr>
          <a:lstStyle/>
          <a:p>
            <a:pPr algn="ctr">
              <a:lnSpc>
                <a:spcPts val="2659"/>
              </a:lnSpc>
            </a:pPr>
            <a:r>
              <a:rPr lang="en-US" sz="1899">
                <a:solidFill>
                  <a:srgbClr val="000000"/>
                </a:solidFill>
                <a:latin typeface="Poppins"/>
                <a:ea typeface="Poppins"/>
                <a:cs typeface="Poppins"/>
                <a:sym typeface="Poppins"/>
              </a:rPr>
              <a:t>Approved correctly - 800</a:t>
            </a:r>
          </a:p>
          <a:p>
            <a:pPr algn="ctr">
              <a:lnSpc>
                <a:spcPts val="2659"/>
              </a:lnSpc>
            </a:pPr>
            <a:r>
              <a:rPr lang="en-US" sz="1899">
                <a:solidFill>
                  <a:srgbClr val="000000"/>
                </a:solidFill>
                <a:latin typeface="Poppins"/>
                <a:ea typeface="Poppins"/>
                <a:cs typeface="Poppins"/>
                <a:sym typeface="Poppins"/>
              </a:rPr>
              <a:t>Approved falsely - 19</a:t>
            </a:r>
          </a:p>
          <a:p>
            <a:pPr algn="ctr">
              <a:lnSpc>
                <a:spcPts val="2659"/>
              </a:lnSpc>
            </a:pPr>
            <a:r>
              <a:rPr lang="en-US" sz="1899">
                <a:solidFill>
                  <a:srgbClr val="000000"/>
                </a:solidFill>
                <a:latin typeface="Poppins"/>
                <a:ea typeface="Poppins"/>
                <a:cs typeface="Poppins"/>
                <a:sym typeface="Poppins"/>
              </a:rPr>
              <a:t>Rejected correctly - 452</a:t>
            </a:r>
          </a:p>
          <a:p>
            <a:pPr algn="ctr">
              <a:lnSpc>
                <a:spcPts val="2659"/>
              </a:lnSpc>
              <a:spcBef>
                <a:spcPct val="0"/>
              </a:spcBef>
            </a:pPr>
            <a:r>
              <a:rPr lang="en-US" sz="1899">
                <a:solidFill>
                  <a:srgbClr val="000000"/>
                </a:solidFill>
                <a:latin typeface="Poppins"/>
                <a:ea typeface="Poppins"/>
                <a:cs typeface="Poppins"/>
                <a:sym typeface="Poppins"/>
              </a:rPr>
              <a:t>Rejected wrongly - 10</a:t>
            </a:r>
          </a:p>
        </p:txBody>
      </p:sp>
      <p:sp>
        <p:nvSpPr>
          <p:cNvPr name="TextBox 13" id="13"/>
          <p:cNvSpPr txBox="true"/>
          <p:nvPr/>
        </p:nvSpPr>
        <p:spPr>
          <a:xfrm rot="0">
            <a:off x="13398170" y="6804208"/>
            <a:ext cx="4149909" cy="1342390"/>
          </a:xfrm>
          <a:prstGeom prst="rect">
            <a:avLst/>
          </a:prstGeom>
        </p:spPr>
        <p:txBody>
          <a:bodyPr anchor="t" rtlCol="false" tIns="0" lIns="0" bIns="0" rIns="0">
            <a:spAutoFit/>
          </a:bodyPr>
          <a:lstStyle/>
          <a:p>
            <a:pPr algn="ctr">
              <a:lnSpc>
                <a:spcPts val="2659"/>
              </a:lnSpc>
            </a:pPr>
            <a:r>
              <a:rPr lang="en-US" sz="1899">
                <a:solidFill>
                  <a:srgbClr val="000000"/>
                </a:solidFill>
                <a:latin typeface="Poppins"/>
                <a:ea typeface="Poppins"/>
                <a:cs typeface="Poppins"/>
                <a:sym typeface="Poppins"/>
              </a:rPr>
              <a:t>Approved correctly - 800</a:t>
            </a:r>
          </a:p>
          <a:p>
            <a:pPr algn="ctr">
              <a:lnSpc>
                <a:spcPts val="2659"/>
              </a:lnSpc>
            </a:pPr>
            <a:r>
              <a:rPr lang="en-US" sz="1899">
                <a:solidFill>
                  <a:srgbClr val="000000"/>
                </a:solidFill>
                <a:latin typeface="Poppins"/>
                <a:ea typeface="Poppins"/>
                <a:cs typeface="Poppins"/>
                <a:sym typeface="Poppins"/>
              </a:rPr>
              <a:t>Approved falsely - 17</a:t>
            </a:r>
          </a:p>
          <a:p>
            <a:pPr algn="ctr">
              <a:lnSpc>
                <a:spcPts val="2659"/>
              </a:lnSpc>
            </a:pPr>
            <a:r>
              <a:rPr lang="en-US" sz="1899">
                <a:solidFill>
                  <a:srgbClr val="000000"/>
                </a:solidFill>
                <a:latin typeface="Poppins"/>
                <a:ea typeface="Poppins"/>
                <a:cs typeface="Poppins"/>
                <a:sym typeface="Poppins"/>
              </a:rPr>
              <a:t>Rejected correctly - 454</a:t>
            </a:r>
          </a:p>
          <a:p>
            <a:pPr algn="ctr">
              <a:lnSpc>
                <a:spcPts val="2659"/>
              </a:lnSpc>
              <a:spcBef>
                <a:spcPct val="0"/>
              </a:spcBef>
            </a:pPr>
            <a:r>
              <a:rPr lang="en-US" sz="1899">
                <a:solidFill>
                  <a:srgbClr val="000000"/>
                </a:solidFill>
                <a:latin typeface="Poppins"/>
                <a:ea typeface="Poppins"/>
                <a:cs typeface="Poppins"/>
                <a:sym typeface="Poppins"/>
              </a:rPr>
              <a:t>Rejected wrongly - 10</a:t>
            </a:r>
          </a:p>
        </p:txBody>
      </p:sp>
      <p:sp>
        <p:nvSpPr>
          <p:cNvPr name="TextBox 14" id="14"/>
          <p:cNvSpPr txBox="true"/>
          <p:nvPr/>
        </p:nvSpPr>
        <p:spPr>
          <a:xfrm rot="0">
            <a:off x="2685380" y="9201150"/>
            <a:ext cx="12917239" cy="34226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Poppins"/>
                <a:ea typeface="Poppins"/>
                <a:cs typeface="Poppins"/>
                <a:sym typeface="Poppins"/>
              </a:rPr>
              <a:t>The third model performs  slightly better than the second one and both greatly outperform the base model.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14613192" cy="169772"/>
            <a:chOff x="0" y="0"/>
            <a:chExt cx="3848742" cy="44714"/>
          </a:xfrm>
        </p:grpSpPr>
        <p:sp>
          <p:nvSpPr>
            <p:cNvPr name="Freeform 4" id="4"/>
            <p:cNvSpPr/>
            <p:nvPr/>
          </p:nvSpPr>
          <p:spPr>
            <a:xfrm flipH="false" flipV="false" rot="0">
              <a:off x="0" y="0"/>
              <a:ext cx="3848742" cy="44714"/>
            </a:xfrm>
            <a:custGeom>
              <a:avLst/>
              <a:gdLst/>
              <a:ahLst/>
              <a:cxnLst/>
              <a:rect r="r" b="b" t="t" l="l"/>
              <a:pathLst>
                <a:path h="44714" w="3848742">
                  <a:moveTo>
                    <a:pt x="0" y="0"/>
                  </a:moveTo>
                  <a:lnTo>
                    <a:pt x="3848742" y="0"/>
                  </a:lnTo>
                  <a:lnTo>
                    <a:pt x="3848742" y="44714"/>
                  </a:lnTo>
                  <a:lnTo>
                    <a:pt x="0" y="44714"/>
                  </a:lnTo>
                  <a:close/>
                </a:path>
              </a:pathLst>
            </a:custGeom>
            <a:solidFill>
              <a:srgbClr val="004AAD"/>
            </a:solidFill>
          </p:spPr>
        </p:sp>
        <p:sp>
          <p:nvSpPr>
            <p:cNvPr name="TextBox 5" id="5"/>
            <p:cNvSpPr txBox="true"/>
            <p:nvPr/>
          </p:nvSpPr>
          <p:spPr>
            <a:xfrm>
              <a:off x="0" y="-47625"/>
              <a:ext cx="3848742" cy="9233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658950"/>
            <a:ext cx="7335961"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CONCLUSION</a:t>
            </a:r>
          </a:p>
        </p:txBody>
      </p:sp>
      <p:sp>
        <p:nvSpPr>
          <p:cNvPr name="TextBox 7" id="7"/>
          <p:cNvSpPr txBox="true"/>
          <p:nvPr/>
        </p:nvSpPr>
        <p:spPr>
          <a:xfrm rot="0">
            <a:off x="1028700" y="1630820"/>
            <a:ext cx="13320738" cy="2490446"/>
          </a:xfrm>
          <a:prstGeom prst="rect">
            <a:avLst/>
          </a:prstGeom>
        </p:spPr>
        <p:txBody>
          <a:bodyPr anchor="t" rtlCol="false" tIns="0" lIns="0" bIns="0" rIns="0">
            <a:spAutoFit/>
          </a:bodyPr>
          <a:lstStyle/>
          <a:p>
            <a:pPr algn="just">
              <a:lnSpc>
                <a:spcPts val="3956"/>
              </a:lnSpc>
            </a:pPr>
            <a:r>
              <a:rPr lang="en-US" sz="2825">
                <a:solidFill>
                  <a:srgbClr val="000000"/>
                </a:solidFill>
                <a:latin typeface="Poppins"/>
                <a:ea typeface="Poppins"/>
                <a:cs typeface="Poppins"/>
                <a:sym typeface="Poppins"/>
              </a:rPr>
              <a:t>1. The third model performs slightly better than the second one and both greatly outperforms the base model according to the metrics.</a:t>
            </a:r>
          </a:p>
          <a:p>
            <a:pPr algn="l">
              <a:lnSpc>
                <a:spcPts val="3956"/>
              </a:lnSpc>
            </a:pPr>
            <a:r>
              <a:rPr lang="en-US" sz="2825">
                <a:solidFill>
                  <a:srgbClr val="000000"/>
                </a:solidFill>
                <a:latin typeface="Poppins"/>
                <a:ea typeface="Poppins"/>
                <a:cs typeface="Poppins"/>
                <a:sym typeface="Poppins"/>
              </a:rPr>
              <a:t>2.</a:t>
            </a:r>
            <a:r>
              <a:rPr lang="en-US" sz="2825">
                <a:solidFill>
                  <a:srgbClr val="000000"/>
                </a:solidFill>
                <a:latin typeface="Poppins"/>
                <a:ea typeface="Poppins"/>
                <a:cs typeface="Poppins"/>
                <a:sym typeface="Poppins"/>
              </a:rPr>
              <a:t> We will deploy the third model since it's the best performing model. </a:t>
            </a:r>
          </a:p>
          <a:p>
            <a:pPr algn="l">
              <a:lnSpc>
                <a:spcPts val="3956"/>
              </a:lnSpc>
              <a:spcBef>
                <a:spcPct val="0"/>
              </a:spcBef>
            </a:pPr>
            <a:r>
              <a:rPr lang="en-US" sz="2825">
                <a:solidFill>
                  <a:srgbClr val="000000"/>
                </a:solidFill>
                <a:latin typeface="Poppins"/>
                <a:ea typeface="Poppins"/>
                <a:cs typeface="Poppins"/>
                <a:sym typeface="Poppins"/>
              </a:rPr>
              <a:t>3. </a:t>
            </a:r>
            <a:r>
              <a:rPr lang="en-US" sz="2825">
                <a:solidFill>
                  <a:srgbClr val="000000"/>
                </a:solidFill>
                <a:latin typeface="Poppins"/>
                <a:ea typeface="Poppins"/>
                <a:cs typeface="Poppins"/>
                <a:sym typeface="Poppins"/>
              </a:rPr>
              <a:t> The model will do well to maximize revenue and customer satisfaction due to the reason above.</a:t>
            </a:r>
          </a:p>
        </p:txBody>
      </p:sp>
      <p:sp>
        <p:nvSpPr>
          <p:cNvPr name="TextBox 8" id="8"/>
          <p:cNvSpPr txBox="true"/>
          <p:nvPr/>
        </p:nvSpPr>
        <p:spPr>
          <a:xfrm rot="0">
            <a:off x="1028700" y="4667372"/>
            <a:ext cx="7335961"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RECOMENDATIONS</a:t>
            </a:r>
          </a:p>
        </p:txBody>
      </p:sp>
      <p:sp>
        <p:nvSpPr>
          <p:cNvPr name="TextBox 9" id="9"/>
          <p:cNvSpPr txBox="true"/>
          <p:nvPr/>
        </p:nvSpPr>
        <p:spPr>
          <a:xfrm rot="0">
            <a:off x="1028700" y="5639242"/>
            <a:ext cx="13320738" cy="1499846"/>
          </a:xfrm>
          <a:prstGeom prst="rect">
            <a:avLst/>
          </a:prstGeom>
        </p:spPr>
        <p:txBody>
          <a:bodyPr anchor="t" rtlCol="false" tIns="0" lIns="0" bIns="0" rIns="0">
            <a:spAutoFit/>
          </a:bodyPr>
          <a:lstStyle/>
          <a:p>
            <a:pPr algn="just" marL="610124" indent="-305062" lvl="1">
              <a:lnSpc>
                <a:spcPts val="3956"/>
              </a:lnSpc>
              <a:buAutoNum type="arabicPeriod" startAt="1"/>
            </a:pPr>
            <a:r>
              <a:rPr lang="en-US" sz="2825">
                <a:solidFill>
                  <a:srgbClr val="000000"/>
                </a:solidFill>
                <a:latin typeface="Poppins"/>
                <a:ea typeface="Poppins"/>
                <a:cs typeface="Poppins"/>
                <a:sym typeface="Poppins"/>
              </a:rPr>
              <a:t>The model is ready for production.</a:t>
            </a:r>
          </a:p>
          <a:p>
            <a:pPr algn="just" marL="610124" indent="-305062" lvl="1">
              <a:lnSpc>
                <a:spcPts val="3956"/>
              </a:lnSpc>
              <a:spcBef>
                <a:spcPct val="0"/>
              </a:spcBef>
              <a:buAutoNum type="arabicPeriod" startAt="1"/>
            </a:pPr>
            <a:r>
              <a:rPr lang="en-US" sz="2825">
                <a:solidFill>
                  <a:srgbClr val="000000"/>
                </a:solidFill>
                <a:latin typeface="Poppins"/>
                <a:ea typeface="Poppins"/>
                <a:cs typeface="Poppins"/>
                <a:sym typeface="Poppins"/>
              </a:rPr>
              <a:t>The bank should build an app/webapp to make it easier for the loan team to use the model.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DAG8WtWZGSM</dc:identifier>
  <dcterms:modified xsi:type="dcterms:W3CDTF">2011-08-01T06:04:30Z</dcterms:modified>
  <cp:revision>1</cp:revision>
  <dc:title>Benbellah owino</dc:title>
</cp:coreProperties>
</file>